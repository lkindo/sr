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SR(Service Request) 관리 시스템 사용자 및 운영 매뉴얼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본 문서는 </a:t>
            </a:r>
            <a:r>
              <a:rPr b="1"/>
              <a:t>SR(Service Request) 관리 시스템</a:t>
            </a:r>
            <a:r>
              <a:rPr/>
              <a:t>의 통합 사용자 및 운영 매뉴얼입니다. 각 화면별 기능, 주요 UI 구성요소, 역할 기반 권한 제어(RBAC), 그리고 비즈니스 제약조건(SLA, 상태 전이 등)을 명확하게 정의하여 사용자와 운영자의 편의를 돕습니다.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📚 매뉴얼 활용 방법 및 이미지 등록 안내</a:t>
            </a:r>
          </a:p>
          <a:p>
            <a:pPr lvl="0" indent="0" marL="0">
              <a:buNone/>
            </a:pPr>
            <a:r>
              <a:rPr/>
              <a:t>본 매뉴얼은 각 화면의 주요 요소와 제약조건을 설명하기 위해 </a:t>
            </a:r>
            <a:r>
              <a:rPr b="1"/>
              <a:t>화면 캡처 플레이스홀더</a:t>
            </a:r>
            <a:r>
              <a:rPr/>
              <a:t>를 제공합니다. 시스템 관리자 또는 운영자는 실제 작동 중인 화면을 캡처한 후, 다음 규칙에 맞게 이미지를 저장하시면 문서에 자동으로 이미지가 반영됩니다.</a:t>
            </a:r>
          </a:p>
          <a:p>
            <a:pPr lvl="0" indent="-342900" marL="342900">
              <a:buAutoNum type="arabicPeriod"/>
            </a:pPr>
            <a:r>
              <a:rPr b="1"/>
              <a:t>이미지 저장 경로</a:t>
            </a:r>
            <a:r>
              <a:rPr/>
              <a:t>: </a:t>
            </a:r>
            <a:r>
              <a:rPr>
                <a:latin typeface="Courier"/>
              </a:rPr>
              <a:t>d:/project/sr/public/images/manual/</a:t>
            </a:r>
          </a:p>
          <a:p>
            <a:pPr lvl="0" indent="-342900" marL="342900">
              <a:buAutoNum type="arabicPeriod"/>
            </a:pPr>
            <a:r>
              <a:rPr b="1"/>
              <a:t>권장 이미지 포맷</a:t>
            </a:r>
            <a:r>
              <a:rPr/>
              <a:t>: </a:t>
            </a:r>
            <a:r>
              <a:rPr>
                <a:latin typeface="Courier"/>
              </a:rPr>
              <a:t>PNG</a:t>
            </a:r>
            <a:r>
              <a:rPr/>
              <a:t> (배경 투명 또는 시스템 테마와 조화로운 사양)</a:t>
            </a:r>
          </a:p>
          <a:p>
            <a:pPr lvl="0" indent="-342900" marL="342900">
              <a:buAutoNum type="arabicPeriod"/>
            </a:pPr>
            <a:r>
              <a:rPr b="1"/>
              <a:t>파일명 지정</a:t>
            </a:r>
            <a:r>
              <a:rPr/>
              <a:t>: 아래 화면별 섹션에 정의된 이미지 파일명(예: </a:t>
            </a:r>
            <a:r>
              <a:rPr>
                <a:latin typeface="Courier"/>
              </a:rPr>
              <a:t>01_login.png</a:t>
            </a:r>
            <a:r>
              <a:rPr/>
              <a:t>)과 대소문자를 구분하여 동일하게 저장합니다.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👥 사용자 역할(Role) 및 데이터 격리 원칙</a:t>
            </a:r>
          </a:p>
          <a:p>
            <a:pPr lvl="0" indent="0" marL="0">
              <a:buNone/>
            </a:pPr>
            <a:r>
              <a:rPr/>
              <a:t>시스템은 철저한 역할 기반 권한 제어(RBAC) 및 고객사 데이터 격리 원칙을 준수합니다.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역할 (Role)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주요 권한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데이터 접근 제한 (격리 원칙)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시스템 관리자(SYSTEM_ADMIN)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시스템 설정, 전체 고객사 및 사용자 관리, 전체 감사 로그(Audit Log) 조회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모든 고객사 및 사용자의 데이터를 제한 없이 조회 및 수정할 수 있습니다.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고객사 관리자(CLIENT_ADMIN)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소속 고객사의 사용자 및 SR 조회/관리, 배정 변경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본인 고객사 소속 데이터만 조회 가능하며, 타 고객사 데이터에는 접근이 불가능합니다. </a:t>
                      </a:r>
                      <a:r>
                        <a:rPr b="1"/>
                        <a:t>데이터 삭제(Delete) 권한은 갖지 못합니다.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개발자(DEVELOPER)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본인에게 배정된 SR 조회, 처리 완료, 상태 전이, 내부 노트/댓글 작성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본인에게 배정된 SR만 관리할 수 있습니다. 타 개발자에게 할당된 SR은 강제로 수정할 수 없습니다.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고객사 사용자(CLIENT_USER)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본인 소속 고객사의 SR 신청, 본인이 작성한 SR 진행 상황 조회 및 공개 댓글 작성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자신이 속한 고객사 이외의 타 고객사 정보, 사용자 정보 및 통계 데이터에 접근할 수 없습니다.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🖥️ 화면별 기능 가이드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로그인 화면 (Login)</a:t>
            </a:r>
          </a:p>
          <a:p>
            <a:pPr lvl="0"/>
            <a:r>
              <a:rPr b="1"/>
              <a:t>화면 경로</a:t>
            </a:r>
            <a:r>
              <a:rPr/>
              <a:t>: </a:t>
            </a:r>
            <a:r>
              <a:rPr>
                <a:latin typeface="Courier"/>
              </a:rPr>
              <a:t>/login</a:t>
            </a:r>
          </a:p>
          <a:p>
            <a:pPr lvl="0"/>
            <a:r>
              <a:rPr b="1"/>
              <a:t>사용 대상</a:t>
            </a:r>
            <a:r>
              <a:rPr/>
              <a:t>: 모든 사용자</a:t>
            </a:r>
          </a:p>
          <a:p>
            <a:pPr lvl="0"/>
            <a:r>
              <a:rPr b="1"/>
              <a:t>화면 캡처</a:t>
            </a:r>
            <a:r>
              <a:rPr/>
              <a:t>: 로그인 화면 캡처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주요 UI 구성요소 및 설명</a:t>
            </a:r>
          </a:p>
          <a:p>
            <a:pPr lvl="0"/>
            <a:r>
              <a:rPr b="1"/>
              <a:t>이메일 주소</a:t>
            </a:r>
            <a:r>
              <a:rPr/>
              <a:t>: 사용자의 고유 가입 이메일을 입력합니다. (로그인 ID로 사용)</a:t>
            </a:r>
          </a:p>
          <a:p>
            <a:pPr lvl="0"/>
            <a:r>
              <a:rPr b="1"/>
              <a:t>비밀번호</a:t>
            </a:r>
            <a:r>
              <a:rPr/>
              <a:t>: 가입 시 설정한 비밀번호를 입력합니다.</a:t>
            </a:r>
          </a:p>
          <a:p>
            <a:pPr lvl="0"/>
            <a:r>
              <a:rPr b="1"/>
              <a:t>로그인 상태 유지</a:t>
            </a:r>
            <a:r>
              <a:rPr/>
              <a:t>: 체크 시 브라우저 쿠키를 통해 세션을 유지합니다.</a:t>
            </a:r>
          </a:p>
          <a:p>
            <a:pPr lvl="0"/>
            <a:r>
              <a:rPr b="1"/>
              <a:t>회원가입 링크</a:t>
            </a:r>
            <a:r>
              <a:rPr/>
              <a:t>: 아직 계정이 없는 사용자를 위한 회원가입 페이지(</a:t>
            </a:r>
            <a:r>
              <a:rPr>
                <a:latin typeface="Courier"/>
              </a:rPr>
              <a:t>/register</a:t>
            </a:r>
            <a:r>
              <a:rPr/>
              <a:t>)로 이동합니다.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제약 조건 및 비즈니스 예외 처리</a:t>
            </a:r>
          </a:p>
          <a:p>
            <a:pPr lvl="0"/>
            <a:r>
              <a:rPr b="1"/>
              <a:t>인증 정보 보호</a:t>
            </a:r>
            <a:r>
              <a:rPr/>
              <a:t>: 로그인 정보 송신 시 HTTPS 보안 프로토콜을 사용하며, 비밀번호는 단방향 해시로 보호됩니다.</a:t>
            </a:r>
          </a:p>
          <a:p>
            <a:pPr lvl="0"/>
            <a:r>
              <a:rPr b="1"/>
              <a:t>휴면 계정 제한</a:t>
            </a:r>
            <a:r>
              <a:rPr/>
              <a:t>: 6개월 이상 시스템 미사용으로 인해 ‘휴면’ 상태가 된 계정은 로그인 시도 시 관리자 재활성화 승인 안내 팝업이 노출됩니다.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회원가입 화면 (Register)</a:t>
            </a:r>
          </a:p>
          <a:p>
            <a:pPr lvl="0"/>
            <a:r>
              <a:rPr b="1"/>
              <a:t>화면 경로</a:t>
            </a:r>
            <a:r>
              <a:rPr/>
              <a:t>: </a:t>
            </a:r>
            <a:r>
              <a:rPr>
                <a:latin typeface="Courier"/>
              </a:rPr>
              <a:t>/register</a:t>
            </a:r>
          </a:p>
          <a:p>
            <a:pPr lvl="0"/>
            <a:r>
              <a:rPr b="1"/>
              <a:t>사용 대상</a:t>
            </a:r>
            <a:r>
              <a:rPr/>
              <a:t>: 신규 사용자</a:t>
            </a:r>
          </a:p>
          <a:p>
            <a:pPr lvl="0"/>
            <a:r>
              <a:rPr b="1"/>
              <a:t>화면 캡처</a:t>
            </a:r>
            <a:r>
              <a:rPr/>
              <a:t>: 회원가입 화면 캡처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주요 UI 구성요소 및 설명</a:t>
            </a:r>
          </a:p>
          <a:p>
            <a:pPr lvl="0"/>
            <a:r>
              <a:rPr b="1"/>
              <a:t>사용자명</a:t>
            </a:r>
            <a:r>
              <a:rPr/>
              <a:t>: 실제 사용자 이름을 입력합니다.</a:t>
            </a:r>
          </a:p>
          <a:p>
            <a:pPr lvl="0"/>
            <a:r>
              <a:rPr b="1"/>
              <a:t>이메일 주소</a:t>
            </a:r>
            <a:r>
              <a:rPr/>
              <a:t>: 고유한 이메일 주소를 입력하며, 가입 후 이메일 인증이 진행됩니다.</a:t>
            </a:r>
          </a:p>
          <a:p>
            <a:pPr lvl="0"/>
            <a:r>
              <a:rPr b="1"/>
              <a:t>비밀번호/비밀번호 확인</a:t>
            </a:r>
            <a:r>
              <a:rPr/>
              <a:t>: 영문, 숫자, 특수문자를 혼합한 보안 비밀번호를 입력합니다.</a:t>
            </a:r>
          </a:p>
          <a:p>
            <a:pPr lvl="0"/>
            <a:r>
              <a:rPr b="1"/>
              <a:t>고객사 검색 및 선택</a:t>
            </a:r>
            <a:r>
              <a:rPr/>
              <a:t>: 소속될 고객사 명을 입력하고 자동완성 제안 목록에서 선택합니다.</a:t>
            </a:r>
          </a:p>
          <a:p>
            <a:pPr lvl="0"/>
            <a:r>
              <a:rPr b="1"/>
              <a:t>부서/팀 선택</a:t>
            </a:r>
            <a:r>
              <a:rPr/>
              <a:t>: 선택한 고객사 산하에 등록되어 있는 부서/팀을 선택합니다.</a:t>
            </a:r>
          </a:p>
          <a:p>
            <a:pPr lvl="0"/>
            <a:r>
              <a:rPr b="1"/>
              <a:t>휴대폰 번호</a:t>
            </a:r>
            <a:r>
              <a:rPr/>
              <a:t>: 본인 인증 및 비상 연락 수단으로 활용될 전화번호를 입력합니다.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제약 조건 및 비즈니스 예외 처리</a:t>
            </a:r>
          </a:p>
          <a:p>
            <a:pPr lvl="0"/>
            <a:r>
              <a:rPr b="1"/>
              <a:t>이메일 고유성</a:t>
            </a:r>
            <a:r>
              <a:rPr/>
              <a:t>: 이미 가입된 이메일은 회원가입 프로세스 진행이 제한됩니다.</a:t>
            </a:r>
          </a:p>
          <a:p>
            <a:pPr lvl="0"/>
            <a:r>
              <a:rPr b="1"/>
              <a:t>이메일 인증 링크</a:t>
            </a:r>
            <a:r>
              <a:rPr/>
              <a:t>: 가입 신청 완료 시 이메일 인증 메일이 발송됩니다. 해당 링크의 </a:t>
            </a:r>
            <a:r>
              <a:rPr b="1"/>
              <a:t>유효 기간은 24시간</a:t>
            </a:r>
            <a:r>
              <a:rPr/>
              <a:t>이며, 기간 만료 시 재발송을 요청해야 합니다.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실시간 통합 대시보드 (Dashboard)</a:t>
            </a:r>
          </a:p>
          <a:p>
            <a:pPr lvl="0"/>
            <a:r>
              <a:rPr b="1"/>
              <a:t>화면 경로</a:t>
            </a:r>
            <a:r>
              <a:rPr/>
              <a:t>: </a:t>
            </a:r>
            <a:r>
              <a:rPr>
                <a:latin typeface="Courier"/>
              </a:rPr>
              <a:t>/dashboard</a:t>
            </a:r>
          </a:p>
          <a:p>
            <a:pPr lvl="0"/>
            <a:r>
              <a:rPr b="1"/>
              <a:t>사용 대상</a:t>
            </a:r>
            <a:r>
              <a:rPr/>
              <a:t>: SYSTEM_ADMIN, CLIENT_ADMIN, DEVELOPER (권한별 조회 범위 상이)</a:t>
            </a:r>
          </a:p>
          <a:p>
            <a:pPr lvl="0"/>
            <a:r>
              <a:rPr b="1"/>
              <a:t>화면 캡처</a:t>
            </a:r>
            <a:r>
              <a:rPr/>
              <a:t>: 대시보드 화면 캡처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주요 UI 구성요소 및 설명</a:t>
            </a:r>
          </a:p>
          <a:p>
            <a:pPr lvl="0"/>
            <a:r>
              <a:rPr b="1"/>
              <a:t>SR 실시간 상태 현황 카드</a:t>
            </a:r>
            <a:r>
              <a:rPr/>
              <a:t>: ‘신청’, ‘접수’, ‘진행중’, ‘보류’, ‘완료’, ‘거절’ 상태별 SR의 개수를 표시합니다.</a:t>
            </a:r>
          </a:p>
          <a:p>
            <a:pPr lvl="0"/>
            <a:r>
              <a:rPr b="1"/>
              <a:t>SLA 경고 보드</a:t>
            </a:r>
            <a:r>
              <a:rPr/>
              <a:t>: 접수 및 완료 목표 시간(SLA)이 초과되었거나 초과가 임약한 ‘긴급(Critical)’ / ‘높음(High)’ SR 목록을 강조 표시합니다.</a:t>
            </a:r>
          </a:p>
          <a:p>
            <a:pPr lvl="0"/>
            <a:r>
              <a:rPr b="1"/>
              <a:t>최근 등록된 SR</a:t>
            </a:r>
            <a:r>
              <a:rPr/>
              <a:t>: 최근 24시간 이내에 접수된 신규 요청 리스트를 보여줍니다.</a:t>
            </a:r>
          </a:p>
          <a:p>
            <a:pPr lvl="0"/>
            <a:r>
              <a:rPr b="1"/>
              <a:t>담당자별/고객사별 통계 차트</a:t>
            </a:r>
            <a:r>
              <a:rPr/>
              <a:t>: 담당자 업무 과중도와 고객사별 청구 건수를 가시화한 차트 컴포넌트입니다.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제약 조건 및 비즈니스 예외 처리</a:t>
            </a:r>
          </a:p>
          <a:p>
            <a:pPr lvl="0"/>
            <a:r>
              <a:rPr b="1"/>
              <a:t>데이터 격리 적용</a:t>
            </a:r>
            <a:r>
              <a:rPr/>
              <a:t>:</a:t>
            </a:r>
          </a:p>
          <a:p>
            <a:pPr lvl="1"/>
            <a:r>
              <a:rPr>
                <a:latin typeface="Courier"/>
              </a:rPr>
              <a:t>CLIENT_ADMIN</a:t>
            </a:r>
            <a:r>
              <a:rPr/>
              <a:t>은 본인 소속 고객사의 통계 데이터만 조회됩니다.</a:t>
            </a:r>
          </a:p>
          <a:p>
            <a:pPr lvl="1"/>
            <a:r>
              <a:rPr>
                <a:latin typeface="Courier"/>
              </a:rPr>
              <a:t>DEVELOPER</a:t>
            </a:r>
            <a:r>
              <a:rPr/>
              <a:t>는 대시보드 내에서 자신에게 배정된 SR의 통계 및 전체 현황 중 본인 관여 건 위주로 필터링되어 보입니다.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SR 목록 화면 (SR List)</a:t>
            </a:r>
          </a:p>
          <a:p>
            <a:pPr lvl="0"/>
            <a:r>
              <a:rPr b="1"/>
              <a:t>화면 경로</a:t>
            </a:r>
            <a:r>
              <a:rPr/>
              <a:t>: </a:t>
            </a:r>
            <a:r>
              <a:rPr>
                <a:latin typeface="Courier"/>
              </a:rPr>
              <a:t>/srs</a:t>
            </a:r>
          </a:p>
          <a:p>
            <a:pPr lvl="0"/>
            <a:r>
              <a:rPr b="1"/>
              <a:t>사용 대상</a:t>
            </a:r>
            <a:r>
              <a:rPr/>
              <a:t>: SYSTEM_ADMIN, CLIENT_ADMIN, DEVELOPER</a:t>
            </a:r>
          </a:p>
          <a:p>
            <a:pPr lvl="0"/>
            <a:r>
              <a:rPr b="1"/>
              <a:t>화면 캡처</a:t>
            </a:r>
            <a:r>
              <a:rPr/>
              <a:t>: SR 목록 화면 캡처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주요 UI 구성요소 및 설명</a:t>
            </a:r>
          </a:p>
          <a:p>
            <a:pPr lvl="0"/>
            <a:r>
              <a:rPr b="1"/>
              <a:t>통합 필터 바</a:t>
            </a:r>
            <a:r>
              <a:rPr/>
              <a:t>: 고객사명, 진행 상태, 우선순위(긴급, 높음, 중간, 낮음), 등록일자, 담당자명 조건으로 목록을 필터링합니다.</a:t>
            </a:r>
          </a:p>
          <a:p>
            <a:pPr lvl="0"/>
            <a:r>
              <a:rPr b="1"/>
              <a:t>검색 창</a:t>
            </a:r>
            <a:r>
              <a:rPr/>
              <a:t>: 제목 및 내용을 키워드로 검색합니다.</a:t>
            </a:r>
          </a:p>
          <a:p>
            <a:pPr lvl="0"/>
            <a:r>
              <a:rPr b="1"/>
              <a:t>SR 데이터 테이블</a:t>
            </a:r>
            <a:r>
              <a:rPr/>
              <a:t>: SR 번호, 제목, 신청자, 담당자, 등록일, 우선순위, 현재 상태 정보를 테이블 레이아웃으로 출력합니다.</a:t>
            </a:r>
          </a:p>
          <a:p>
            <a:pPr lvl="0"/>
            <a:r>
              <a:rPr b="1"/>
              <a:t>엑셀 내보내기 버튼</a:t>
            </a:r>
            <a:r>
              <a:rPr/>
              <a:t>: 현재 필터링된 SR 목록을 Excel 파일로 즉시 다운로드합니다.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제약 조건 및 비즈니스 예외 처리</a:t>
            </a:r>
          </a:p>
          <a:p>
            <a:pPr lvl="0"/>
            <a:r>
              <a:rPr b="1"/>
              <a:t>데이터 접근 제한</a:t>
            </a:r>
            <a:r>
              <a:rPr/>
              <a:t>: </a:t>
            </a:r>
            <a:r>
              <a:rPr>
                <a:latin typeface="Courier"/>
              </a:rPr>
              <a:t>CLIENT_USER</a:t>
            </a:r>
            <a:r>
              <a:rPr/>
              <a:t> 권한의 사용자는 이 메뉴에 직접 접근할 수 없으며, 본인의 전용 메뉴인 </a:t>
            </a:r>
            <a:r>
              <a:rPr>
                <a:latin typeface="Courier"/>
              </a:rPr>
              <a:t>/my-requests</a:t>
            </a:r>
            <a:r>
              <a:rPr/>
              <a:t>를 통해서만 자신의 건만 확인할 수 있습니다.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SR 상세 화면 및 상태 관리 (SR Detail &amp; State Machine)</a:t>
            </a:r>
          </a:p>
          <a:p>
            <a:pPr lvl="0"/>
            <a:r>
              <a:rPr b="1"/>
              <a:t>화면 경로</a:t>
            </a:r>
            <a:r>
              <a:rPr/>
              <a:t>: </a:t>
            </a:r>
            <a:r>
              <a:rPr>
                <a:latin typeface="Courier"/>
              </a:rPr>
              <a:t>/srs/[id]</a:t>
            </a:r>
          </a:p>
          <a:p>
            <a:pPr lvl="0"/>
            <a:r>
              <a:rPr b="1"/>
              <a:t>사용 대상</a:t>
            </a:r>
            <a:r>
              <a:rPr/>
              <a:t>: SYSTEM_ADMIN, CLIENT_ADMIN, DEVELOPER, CLIENT_USER(본인 소유 건에 한함)</a:t>
            </a:r>
          </a:p>
          <a:p>
            <a:pPr lvl="0"/>
            <a:r>
              <a:rPr b="1"/>
              <a:t>화면 캡처</a:t>
            </a:r>
            <a:r>
              <a:rPr/>
              <a:t>: SR 상세 화면 캡처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주요 UI 구성요소 및 설명</a:t>
            </a:r>
          </a:p>
          <a:p>
            <a:pPr lvl="0"/>
            <a:r>
              <a:rPr b="1"/>
              <a:t>SR 정보 요약</a:t>
            </a:r>
            <a:r>
              <a:rPr/>
              <a:t>: 제목, 설명, 요청 분류, 우선순위, 첨부파일 목록을 확인할 수 있습니다.</a:t>
            </a:r>
          </a:p>
          <a:p>
            <a:pPr lvl="0"/>
            <a:r>
              <a:rPr b="1"/>
              <a:t>상태 변경 컨트롤러</a:t>
            </a:r>
            <a:r>
              <a:rPr/>
              <a:t>: 권한에 따라 현재 SR의 단계를 전이(Transition)시킵니다.</a:t>
            </a:r>
          </a:p>
          <a:p>
            <a:pPr lvl="0"/>
            <a:r>
              <a:rPr b="1"/>
              <a:t>우선순위 설정</a:t>
            </a:r>
            <a:r>
              <a:rPr/>
              <a:t>: 긴급, 높음, 중간, 낮음의 단계를 선택하여 설정합니다.</a:t>
            </a:r>
          </a:p>
          <a:p>
            <a:pPr lvl="0"/>
            <a:r>
              <a:rPr b="1"/>
              <a:t>담당자 지정/변경</a:t>
            </a:r>
            <a:r>
              <a:rPr/>
              <a:t>: 현재 접수된 요청을 처리할 담당 개발자를 지정합니다.</a:t>
            </a:r>
          </a:p>
          <a:p>
            <a:pPr lvl="0"/>
            <a:r>
              <a:rPr b="1"/>
              <a:t>거절 사유/완료 내용 입력창</a:t>
            </a:r>
            <a:r>
              <a:rPr/>
              <a:t>: 상태 전이에 필요한 텍스트를 기입합니다.</a:t>
            </a:r>
          </a:p>
          <a:p>
            <a:pPr lvl="0"/>
            <a:r>
              <a:rPr b="1"/>
              <a:t>댓글 영역</a:t>
            </a:r>
            <a:r>
              <a:rPr/>
              <a:t>: 공개 댓글(신청자 소통용) 및 내부 노트(개발자 간 내부 커뮤니케이션용)를 작성할 수 있는 영역입니다.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제약 조건 및 비즈니스 예외 처리</a:t>
            </a:r>
          </a:p>
          <a:p>
            <a:pPr lvl="0"/>
            <a:r>
              <a:rPr b="1"/>
              <a:t>상태 전이 헌법 필수 준수</a:t>
            </a:r>
            <a:r>
              <a:rPr/>
              <a:t>:</a:t>
            </a:r>
          </a:p>
          <a:p>
            <a:pPr lvl="1"/>
            <a:r>
              <a:rPr>
                <a:latin typeface="Courier"/>
              </a:rPr>
              <a:t>신청(REQUESTED)</a:t>
            </a:r>
            <a:r>
              <a:rPr/>
              <a:t> 또는 </a:t>
            </a:r>
            <a:r>
              <a:rPr>
                <a:latin typeface="Courier"/>
              </a:rPr>
              <a:t>접수(ACCEPTED)</a:t>
            </a:r>
            <a:r>
              <a:rPr/>
              <a:t> 단계에서 </a:t>
            </a:r>
            <a:r>
              <a:rPr>
                <a:latin typeface="Courier"/>
              </a:rPr>
              <a:t>거절(REJECTED)</a:t>
            </a:r>
            <a:r>
              <a:rPr/>
              <a:t> 상태로 변경할 때는 </a:t>
            </a:r>
            <a:r>
              <a:rPr b="1"/>
              <a:t>거절 사유(Rejected Reason)</a:t>
            </a:r>
            <a:r>
              <a:rPr/>
              <a:t>가 필수로 기입되어야만 저장이 가능합니다.</a:t>
            </a:r>
          </a:p>
          <a:p>
            <a:pPr lvl="1"/>
            <a:r>
              <a:rPr>
                <a:latin typeface="Courier"/>
              </a:rPr>
              <a:t>진행중(IN_PROGRESS)</a:t>
            </a:r>
            <a:r>
              <a:rPr/>
              <a:t>에서 </a:t>
            </a:r>
            <a:r>
              <a:rPr>
                <a:latin typeface="Courier"/>
              </a:rPr>
              <a:t>완료(COMPLETED)</a:t>
            </a:r>
            <a:r>
              <a:rPr/>
              <a:t> 상태로 변경할 때는 </a:t>
            </a:r>
            <a:r>
              <a:rPr b="1"/>
              <a:t>완료 내용(Completion Notes)</a:t>
            </a:r>
            <a:r>
              <a:rPr/>
              <a:t>이 누락 없이 상세하게 작성되어야 저장이 성공합니다.</a:t>
            </a:r>
          </a:p>
          <a:p>
            <a:pPr lvl="1"/>
            <a:r>
              <a:rPr/>
              <a:t>외부 피드백 대기 등으로 </a:t>
            </a:r>
            <a:r>
              <a:rPr>
                <a:latin typeface="Courier"/>
              </a:rPr>
              <a:t>보류(HOLD)</a:t>
            </a:r>
            <a:r>
              <a:rPr/>
              <a:t> 상태로 전이할 시에는 </a:t>
            </a:r>
            <a:r>
              <a:rPr b="1"/>
              <a:t>보류 사유</a:t>
            </a:r>
            <a:r>
              <a:rPr/>
              <a:t>와 </a:t>
            </a:r>
            <a:r>
              <a:rPr b="1"/>
              <a:t>예상 해제일</a:t>
            </a:r>
            <a:r>
              <a:rPr/>
              <a:t>을 함께 명시해야 합니다.</a:t>
            </a:r>
          </a:p>
          <a:p>
            <a:pPr lvl="0"/>
            <a:r>
              <a:rPr b="1"/>
              <a:t>재오픈(REOPENED) 제한</a:t>
            </a:r>
            <a:r>
              <a:rPr/>
              <a:t>:</a:t>
            </a:r>
          </a:p>
          <a:p>
            <a:pPr lvl="1"/>
            <a:r>
              <a:rPr>
                <a:latin typeface="Courier"/>
              </a:rPr>
              <a:t>완료(COMPLETED)</a:t>
            </a:r>
            <a:r>
              <a:rPr/>
              <a:t> 또는 </a:t>
            </a:r>
            <a:r>
              <a:rPr>
                <a:latin typeface="Courier"/>
              </a:rPr>
              <a:t>확인완료(CLOSED)</a:t>
            </a:r>
            <a:r>
              <a:rPr/>
              <a:t> 처리된 건에 대해서는 </a:t>
            </a:r>
            <a:r>
              <a:rPr b="1"/>
              <a:t>최종 처리 후 7일 이내에만 1회에 한하여 재오픈</a:t>
            </a:r>
            <a:r>
              <a:rPr/>
              <a:t>이 가능합니다.</a:t>
            </a:r>
          </a:p>
          <a:p>
            <a:pPr lvl="1"/>
            <a:r>
              <a:rPr/>
              <a:t>재오픈 시에는 </a:t>
            </a:r>
            <a:r>
              <a:rPr b="1"/>
              <a:t>재오픈 사유</a:t>
            </a:r>
            <a:r>
              <a:rPr/>
              <a:t>를 입력해야 하며, 상태는 다시 </a:t>
            </a:r>
            <a:r>
              <a:rPr>
                <a:latin typeface="Courier"/>
              </a:rPr>
              <a:t>진행중(IN_PROGRESS)</a:t>
            </a:r>
            <a:r>
              <a:rPr/>
              <a:t>으로 강제 전이됩니다.</a:t>
            </a:r>
          </a:p>
          <a:p>
            <a:pPr lvl="0"/>
            <a:r>
              <a:rPr b="1"/>
              <a:t>댓글 작성 권한</a:t>
            </a:r>
            <a:r>
              <a:rPr/>
              <a:t>:</a:t>
            </a:r>
          </a:p>
          <a:p>
            <a:pPr lvl="1"/>
            <a:r>
              <a:rPr>
                <a:latin typeface="Courier"/>
              </a:rPr>
              <a:t>CLIENT_USER</a:t>
            </a:r>
            <a:r>
              <a:rPr/>
              <a:t>는 일반 공개 댓글만 작성할 수 있으며, 개발자들만 볼 수 있는 </a:t>
            </a:r>
            <a:r>
              <a:rPr b="1"/>
              <a:t>내부 노트(Private Note)</a:t>
            </a:r>
            <a:r>
              <a:rPr/>
              <a:t>에는 접근하거나 이를 읽을 수 없습니다.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 나의 요청 목록 화면 (My Requests)</a:t>
            </a:r>
          </a:p>
          <a:p>
            <a:pPr lvl="0"/>
            <a:r>
              <a:rPr b="1"/>
              <a:t>화면 경로</a:t>
            </a:r>
            <a:r>
              <a:rPr/>
              <a:t>: </a:t>
            </a:r>
            <a:r>
              <a:rPr>
                <a:latin typeface="Courier"/>
              </a:rPr>
              <a:t>/my-requests</a:t>
            </a:r>
          </a:p>
          <a:p>
            <a:pPr lvl="0"/>
            <a:r>
              <a:rPr b="1"/>
              <a:t>사용 대상</a:t>
            </a:r>
            <a:r>
              <a:rPr/>
              <a:t>: CLIENT_USER (고객사 사용자)</a:t>
            </a:r>
          </a:p>
          <a:p>
            <a:pPr lvl="0"/>
            <a:r>
              <a:rPr b="1"/>
              <a:t>화면 캡처</a:t>
            </a:r>
            <a:r>
              <a:rPr/>
              <a:t>: 나의 요청 목록 화면 캡처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주요 UI 구성요소 및 설명</a:t>
            </a:r>
          </a:p>
          <a:p>
            <a:pPr lvl="0"/>
            <a:r>
              <a:rPr b="1"/>
              <a:t>나의 요청 신청 버튼</a:t>
            </a:r>
            <a:r>
              <a:rPr/>
              <a:t>: 신규 SR을 등록하는 팝업 또는 페이지로 이동합니다.</a:t>
            </a:r>
          </a:p>
          <a:p>
            <a:pPr lvl="0"/>
            <a:r>
              <a:rPr b="1"/>
              <a:t>진행 내역 요약</a:t>
            </a:r>
            <a:r>
              <a:rPr/>
              <a:t>: 본인이 제출한 SR들의 현재 처리 상태와 답변 완료 여부를 한눈에 조회합니다.</a:t>
            </a:r>
          </a:p>
          <a:p>
            <a:pPr lvl="0"/>
            <a:r>
              <a:rPr b="1"/>
              <a:t>우선순위 자동 부여</a:t>
            </a:r>
            <a:r>
              <a:rPr/>
              <a:t>: 신청 시 우선순위는 시스템 기본값인 </a:t>
            </a:r>
            <a:r>
              <a:rPr b="1"/>
              <a:t>‘중(Medium)’</a:t>
            </a:r>
            <a:r>
              <a:rPr/>
              <a:t>으로 강제 고정됩니다.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제약 조건 및 비즈니스 예외 처리</a:t>
            </a:r>
          </a:p>
          <a:p>
            <a:pPr lvl="0"/>
            <a:r>
              <a:rPr b="1"/>
              <a:t>본인 건 전용</a:t>
            </a:r>
            <a:r>
              <a:rPr/>
              <a:t>: 본인이 소속된 고객사의 다른 사용자가 작성한 건도 권한 설정에 따라 조회가 차단될 수 있습니다. (철저한 개인 식별자 격리 원칙)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7. 고객사 관리 화면 (Client Management)</a:t>
            </a:r>
          </a:p>
          <a:p>
            <a:pPr lvl="0"/>
            <a:r>
              <a:rPr b="1"/>
              <a:t>화면 경로</a:t>
            </a:r>
            <a:r>
              <a:rPr/>
              <a:t>: </a:t>
            </a:r>
            <a:r>
              <a:rPr>
                <a:latin typeface="Courier"/>
              </a:rPr>
              <a:t>/clients</a:t>
            </a:r>
          </a:p>
          <a:p>
            <a:pPr lvl="0"/>
            <a:r>
              <a:rPr b="1"/>
              <a:t>사용 대상</a:t>
            </a:r>
            <a:r>
              <a:rPr/>
              <a:t>: SYSTEM_ADMIN (시스템 관리자)</a:t>
            </a:r>
          </a:p>
          <a:p>
            <a:pPr lvl="0"/>
            <a:r>
              <a:rPr b="1"/>
              <a:t>화면 캡처</a:t>
            </a:r>
            <a:r>
              <a:rPr/>
              <a:t>: 고객사 관리 화면 캡처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주요 UI 구성요소 및 설명</a:t>
            </a:r>
          </a:p>
          <a:p>
            <a:pPr lvl="0"/>
            <a:r>
              <a:rPr b="1"/>
              <a:t>고객사 등록/수정 폼</a:t>
            </a:r>
            <a:r>
              <a:rPr/>
              <a:t>: 고객사명, 고객사 코드(자동생성), 계약 시작일 및 종료일, 주요 연락처를 입력합니다.</a:t>
            </a:r>
          </a:p>
          <a:p>
            <a:pPr lvl="0"/>
            <a:r>
              <a:rPr b="1"/>
              <a:t>카테고리 설정 탭</a:t>
            </a:r>
            <a:r>
              <a:rPr/>
              <a:t>: 해당 고객사 전용 서비스 유형(Technical Support, Billing 등)을 설정합니다.</a:t>
            </a:r>
          </a:p>
          <a:p>
            <a:pPr lvl="0"/>
            <a:r>
              <a:rPr b="1"/>
              <a:t>상태 관리</a:t>
            </a:r>
            <a:r>
              <a:rPr/>
              <a:t>: 활성, 휴면, 종료, 보류 상태를 관리합니다.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제약 조건 및 비즈니스 예외 처리</a:t>
            </a:r>
          </a:p>
          <a:p>
            <a:pPr lvl="0"/>
            <a:r>
              <a:rPr b="1"/>
              <a:t>고유성 제약</a:t>
            </a:r>
            <a:r>
              <a:rPr/>
              <a:t>: 고객사명과 고객사 코드는 DB 전체에서 유일해야 합니다.</a:t>
            </a:r>
          </a:p>
          <a:p>
            <a:pPr lvl="0"/>
            <a:r>
              <a:rPr b="1"/>
              <a:t>삭제 불가 원칙</a:t>
            </a:r>
            <a:r>
              <a:rPr/>
              <a:t>: </a:t>
            </a:r>
            <a:r>
              <a:rPr>
                <a:latin typeface="Courier"/>
              </a:rPr>
              <a:t>CLIENT_ADMIN</a:t>
            </a:r>
            <a:r>
              <a:rPr/>
              <a:t>은 고객사 설정 수정을 시도할 수 없으며, 모든 고객사 데이터의 영구 삭제는 감사 기록 보호를 위해 철저히 차단되고 </a:t>
            </a:r>
            <a:r>
              <a:rPr>
                <a:latin typeface="Courier"/>
              </a:rPr>
              <a:t>SYSTEM_ADMIN</a:t>
            </a:r>
            <a:r>
              <a:rPr/>
              <a:t>에 의한 논리 삭제(비활성 처리)만 지원됩니다.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 사용자 관리 화면 (User Management)</a:t>
            </a:r>
          </a:p>
          <a:p>
            <a:pPr lvl="0"/>
            <a:r>
              <a:rPr b="1"/>
              <a:t>화면 경로</a:t>
            </a:r>
            <a:r>
              <a:rPr/>
              <a:t>: </a:t>
            </a:r>
            <a:r>
              <a:rPr>
                <a:latin typeface="Courier"/>
              </a:rPr>
              <a:t>/users</a:t>
            </a:r>
          </a:p>
          <a:p>
            <a:pPr lvl="0"/>
            <a:r>
              <a:rPr b="1"/>
              <a:t>사용 대상</a:t>
            </a:r>
            <a:r>
              <a:rPr/>
              <a:t>: SYSTEM_ADMIN, CLIENT_ADMIN (본인 고객사 내)</a:t>
            </a:r>
          </a:p>
          <a:p>
            <a:pPr lvl="0"/>
            <a:r>
              <a:rPr b="1"/>
              <a:t>화면 캡처</a:t>
            </a:r>
            <a:r>
              <a:rPr/>
              <a:t>: 사용자 관리 화면 캡처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주요 UI 구성요소 및 설명</a:t>
            </a:r>
          </a:p>
          <a:p>
            <a:pPr lvl="0"/>
            <a:r>
              <a:rPr b="1"/>
              <a:t>사용자 목록</a:t>
            </a:r>
            <a:r>
              <a:rPr/>
              <a:t>: 전체 또는 소속 고객사 사용자들의 가입 상태, 역할, 부서, 이메일을 확인합니다.</a:t>
            </a:r>
          </a:p>
          <a:p>
            <a:pPr lvl="0"/>
            <a:r>
              <a:rPr b="1"/>
              <a:t>역할 및 권한 지정</a:t>
            </a:r>
            <a:r>
              <a:rPr/>
              <a:t>: 사용자의 역할(System Admin, Client Admin, Developer, Client User)을 변경 부여합니다.</a:t>
            </a:r>
          </a:p>
          <a:p>
            <a:pPr lvl="0"/>
            <a:r>
              <a:rPr b="1"/>
              <a:t>사용자 계정 상태 제어</a:t>
            </a:r>
            <a:r>
              <a:rPr/>
              <a:t>: 계정을 ‘비활성화’ 하거나 ‘휴면 해제’ 처리합니다.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제약 조건 및 비즈니스 예외 처리</a:t>
            </a:r>
          </a:p>
          <a:p>
            <a:pPr lvl="0"/>
            <a:r>
              <a:rPr b="1"/>
              <a:t>권한 제약</a:t>
            </a:r>
            <a:r>
              <a:rPr/>
              <a:t>: </a:t>
            </a:r>
            <a:r>
              <a:rPr>
                <a:latin typeface="Courier"/>
              </a:rPr>
              <a:t>CLIENT_ADMIN</a:t>
            </a:r>
            <a:r>
              <a:rPr/>
              <a:t>은 자신의 고객사 소속 사용자만 목록에 표시되며, 다른 고객사 사용자는 접근조차 불가능합니다. 또한 본인보다 높은 권한인 </a:t>
            </a:r>
            <a:r>
              <a:rPr>
                <a:latin typeface="Courier"/>
              </a:rPr>
              <a:t>SYSTEM_ADMIN</a:t>
            </a:r>
            <a:r>
              <a:rPr/>
              <a:t>이나 </a:t>
            </a:r>
            <a:r>
              <a:rPr>
                <a:latin typeface="Courier"/>
              </a:rPr>
              <a:t>DEVELOPER</a:t>
            </a:r>
            <a:r>
              <a:rPr/>
              <a:t> 역할을 부여하는 행위는 금지됩니다.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9. 조직 관리 화면 (Organization Management)</a:t>
            </a:r>
          </a:p>
          <a:p>
            <a:pPr lvl="0"/>
            <a:r>
              <a:rPr b="1"/>
              <a:t>화면 경로</a:t>
            </a:r>
            <a:r>
              <a:rPr/>
              <a:t>: </a:t>
            </a:r>
            <a:r>
              <a:rPr>
                <a:latin typeface="Courier"/>
              </a:rPr>
              <a:t>/organization</a:t>
            </a:r>
          </a:p>
          <a:p>
            <a:pPr lvl="0"/>
            <a:r>
              <a:rPr b="1"/>
              <a:t>사용 대상</a:t>
            </a:r>
            <a:r>
              <a:rPr/>
              <a:t>: SYSTEM_ADMIN</a:t>
            </a:r>
          </a:p>
          <a:p>
            <a:pPr lvl="0"/>
            <a:r>
              <a:rPr b="1"/>
              <a:t>화면 캡처</a:t>
            </a:r>
            <a:r>
              <a:rPr/>
              <a:t>: 조직 관리 화면 캡처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주요 UI 구성요소 및 설명</a:t>
            </a:r>
          </a:p>
          <a:p>
            <a:pPr lvl="0"/>
            <a:r>
              <a:rPr b="1"/>
              <a:t>부서 트리(Tree) 뷰</a:t>
            </a:r>
            <a:r>
              <a:rPr/>
              <a:t>: 회사 및 고객사별 부서/팀의 계층 구조를 트리 레이아웃으로 조회합니다.</a:t>
            </a:r>
          </a:p>
          <a:p>
            <a:pPr lvl="0"/>
            <a:r>
              <a:rPr b="1"/>
              <a:t>부서 추가/삭제</a:t>
            </a:r>
            <a:r>
              <a:rPr/>
              <a:t>: 신규 부서를 추가하거나 기존 부서를 이동 및 편집합니다.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제약 조건 및 비즈니스 예외 처리</a:t>
            </a:r>
          </a:p>
          <a:p>
            <a:pPr lvl="0"/>
            <a:r>
              <a:rPr/>
              <a:t>하위 부서나 소속 사용자가 존재하는 부서는 삭제할 수 없습니다. 먼저 소속 사용자들의 부서를 변경해야 부서 삭제가 가능합니다.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10. 역할 및 권한 관리 화면 (Roles &amp; Permissions)</a:t>
            </a:r>
          </a:p>
          <a:p>
            <a:pPr lvl="0"/>
            <a:r>
              <a:rPr b="1"/>
              <a:t>화면 경로</a:t>
            </a:r>
            <a:r>
              <a:rPr/>
              <a:t>: </a:t>
            </a:r>
            <a:r>
              <a:rPr>
                <a:latin typeface="Courier"/>
              </a:rPr>
              <a:t>/roles</a:t>
            </a:r>
          </a:p>
          <a:p>
            <a:pPr lvl="0"/>
            <a:r>
              <a:rPr b="1"/>
              <a:t>사용 대상</a:t>
            </a:r>
            <a:r>
              <a:rPr/>
              <a:t>: SYSTEM_ADMIN</a:t>
            </a:r>
          </a:p>
          <a:p>
            <a:pPr lvl="0"/>
            <a:r>
              <a:rPr b="1"/>
              <a:t>화면 캡처</a:t>
            </a:r>
            <a:r>
              <a:rPr/>
              <a:t>: 역할 및 권한 관리 화면 캡처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주요 UI 구성요소 및 설명</a:t>
            </a:r>
          </a:p>
          <a:p>
            <a:pPr lvl="0"/>
            <a:r>
              <a:rPr b="1"/>
              <a:t>역할 목록</a:t>
            </a:r>
            <a:r>
              <a:rPr/>
              <a:t>: 사전에 지정된 주요 역할 리스트를 출력합니다.</a:t>
            </a:r>
          </a:p>
          <a:p>
            <a:pPr lvl="0"/>
            <a:r>
              <a:rPr b="1"/>
              <a:t>권한 체크박스 매핑</a:t>
            </a:r>
            <a:r>
              <a:rPr/>
              <a:t>: 각 역할이 수행할 수 있는 세부 액션(예: </a:t>
            </a:r>
            <a:r>
              <a:rPr>
                <a:latin typeface="Courier"/>
              </a:rPr>
              <a:t>sr:create</a:t>
            </a:r>
            <a:r>
              <a:rPr/>
              <a:t>, </a:t>
            </a:r>
            <a:r>
              <a:rPr>
                <a:latin typeface="Courier"/>
              </a:rPr>
              <a:t>sr:delete</a:t>
            </a:r>
            <a:r>
              <a:rPr/>
              <a:t>, </a:t>
            </a:r>
            <a:r>
              <a:rPr>
                <a:latin typeface="Courier"/>
              </a:rPr>
              <a:t>user:update</a:t>
            </a:r>
            <a:r>
              <a:rPr/>
              <a:t> 등)을 체크박스로 부여 및 회수합니다.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11. 개인 설정 화면 (Settings)</a:t>
            </a:r>
          </a:p>
          <a:p>
            <a:pPr lvl="0"/>
            <a:r>
              <a:rPr b="1"/>
              <a:t>화면 경로</a:t>
            </a:r>
            <a:r>
              <a:rPr/>
              <a:t>: </a:t>
            </a:r>
            <a:r>
              <a:rPr>
                <a:latin typeface="Courier"/>
              </a:rPr>
              <a:t>/settings</a:t>
            </a:r>
          </a:p>
          <a:p>
            <a:pPr lvl="0"/>
            <a:r>
              <a:rPr b="1"/>
              <a:t>사용 대상</a:t>
            </a:r>
            <a:r>
              <a:rPr/>
              <a:t>: 모든 로그인 사용자</a:t>
            </a:r>
          </a:p>
          <a:p>
            <a:pPr lvl="0"/>
            <a:r>
              <a:rPr b="1"/>
              <a:t>화면 캡처</a:t>
            </a:r>
            <a:r>
              <a:rPr/>
              <a:t>: 개인 설정 화면 캡처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주요 UI 구성요소 및 설명</a:t>
            </a:r>
          </a:p>
          <a:p>
            <a:pPr lvl="0"/>
            <a:r>
              <a:rPr b="1"/>
              <a:t>프로필 정보 수정</a:t>
            </a:r>
            <a:r>
              <a:rPr/>
              <a:t>: 이메일 주소를 제외한 사용자명, 휴대폰 번호, 프로필 사진을 업데이트합니다.</a:t>
            </a:r>
          </a:p>
          <a:p>
            <a:pPr lvl="0"/>
            <a:r>
              <a:rPr b="1"/>
              <a:t>알림 채널 옵션</a:t>
            </a:r>
            <a:r>
              <a:rPr/>
              <a:t>:</a:t>
            </a:r>
          </a:p>
          <a:p>
            <a:pPr lvl="1"/>
            <a:r>
              <a:rPr b="1"/>
              <a:t>이메일 수신</a:t>
            </a:r>
            <a:r>
              <a:rPr/>
              <a:t>: SR 주요 이벤트 발생 시 이메일 전송 여부를 선택합니다.</a:t>
            </a:r>
          </a:p>
          <a:p>
            <a:pPr lvl="1"/>
            <a:r>
              <a:rPr b="1"/>
              <a:t>웹 푸시</a:t>
            </a:r>
            <a:r>
              <a:rPr/>
              <a:t>: 브라우저 알림 수신 권한을 허용 및 제어합니다.</a:t>
            </a:r>
          </a:p>
          <a:p>
            <a:pPr lvl="1"/>
            <a:r>
              <a:rPr b="1"/>
              <a:t>메신저(매터모스트) 연동</a:t>
            </a:r>
            <a:r>
              <a:rPr/>
              <a:t>: 매터모스트 웹훅 URL을 등록하여 알림을 전달받을 수 있도록 설정합니다.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⏱️ SLA 및 우선순위 자동 알림 정책 요약</a:t>
            </a:r>
          </a:p>
          <a:p>
            <a:pPr lvl="0" indent="0" marL="0">
              <a:buNone/>
            </a:pPr>
            <a:r>
              <a:rPr/>
              <a:t>매뉴얼을 효율적으로 운영하기 위해, 아래의 시스템 자동 SLA 타이머 정책과 알림 전송 타겟을 수시로 검토해 주시기 바랍니다.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우선순위별 목표 시간 (SLA)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우선순위 (Priority)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접수 목표 시간 (SLA)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처리 완료 목표 시간 (SLA)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긴급 (Critical)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1시간 이내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4시간 이내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높음 (High)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2시간 이내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24시간 이내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중간 (Medium)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24시간 이내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48시간 이내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낮음 (Low)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48시간 이내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1주일 이내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목표 접수 및 완료 시간이 초과될 경우, 대시보드에 적색 경고가 점멸하며 소속 고객사 담당 개발자에게 즉각 경고 알림이 전송됩니다.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자동 알림(Notification) 발생 조건</a:t>
            </a:r>
          </a:p>
          <a:p>
            <a:pPr lvl="0"/>
            <a:r>
              <a:rPr b="1"/>
              <a:t>SR 등록 시</a:t>
            </a:r>
            <a:r>
              <a:rPr/>
              <a:t>: 해당 고객사 담당 관리자(CLIENT_ADMIN 및 배정 개발자)에게 메일 및 웹 푸시가 자동 전송됩니다.</a:t>
            </a:r>
          </a:p>
          <a:p>
            <a:pPr lvl="0"/>
            <a:r>
              <a:rPr b="1"/>
              <a:t>담당자 배정 시</a:t>
            </a:r>
            <a:r>
              <a:rPr/>
              <a:t>: 지정 또는 교체된 개발자에게 “신규 배정 알림”이 즉시 발송됩니다.</a:t>
            </a:r>
          </a:p>
          <a:p>
            <a:pPr lvl="0"/>
            <a:r>
              <a:rPr b="1"/>
              <a:t>완료 및 거절 처리 시</a:t>
            </a:r>
            <a:r>
              <a:rPr/>
              <a:t>: SR을 최초 제기했던 신청자(</a:t>
            </a:r>
            <a:r>
              <a:rPr>
                <a:latin typeface="Courier"/>
              </a:rPr>
              <a:t>CLIENT_USER</a:t>
            </a:r>
            <a:r>
              <a:rPr/>
              <a:t>)에게 완료 사유 또는 거절 사유가 담긴 요약 알림이 메일로 자동 발송됩니다.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2026-06-22T01:19:50Z</dcterms:created>
  <dcterms:modified xsi:type="dcterms:W3CDTF">2026-06-22T01:19:50Z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